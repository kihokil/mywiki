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5568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E6EDF3"/>
                </a:solidFill>
                <a:latin typeface="Aptos"/>
              </a:rPr>
              <a:t>PHY SW AI-driven HW Change E2E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9728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  <a:latin typeface="Aptos"/>
              </a:rPr>
              <a:t>HW Change → Intelligence → Implementation → Review → Verification → Commercialization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691640" cy="987552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54864" cy="9875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1389888"/>
            <a:ext cx="146304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50" b="1">
                <a:solidFill>
                  <a:srgbClr val="E6EDF3"/>
                </a:solidFill>
                <a:latin typeface="Aptos"/>
              </a:rPr>
              <a:t>01  HW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728216"/>
            <a:ext cx="1463040" cy="484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0">
                <a:solidFill>
                  <a:srgbClr val="8B949E"/>
                </a:solidFill>
                <a:latin typeface="Aptos"/>
              </a:rPr>
              <a:t>300~400 / chipset
HW Change Contract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50592" y="1298448"/>
            <a:ext cx="1691640" cy="987552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50592" y="1298448"/>
            <a:ext cx="54864" cy="9875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96896" y="1389888"/>
            <a:ext cx="146304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50" b="1">
                <a:solidFill>
                  <a:srgbClr val="E6EDF3"/>
                </a:solidFill>
                <a:latin typeface="Aptos"/>
              </a:rPr>
              <a:t>02 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6896" y="1728216"/>
            <a:ext cx="1463040" cy="484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0">
                <a:solidFill>
                  <a:srgbClr val="8B949E"/>
                </a:solidFill>
                <a:latin typeface="Aptos"/>
              </a:rPr>
              <a:t>Impact / Dependency
Risk / Historical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298448"/>
            <a:ext cx="1691640" cy="987552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8264" y="1298448"/>
            <a:ext cx="54864" cy="9875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389888"/>
            <a:ext cx="146304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50" b="1">
                <a:solidFill>
                  <a:srgbClr val="E6EDF3"/>
                </a:solidFill>
                <a:latin typeface="Aptos"/>
              </a:rPr>
              <a:t>03  IMPLEMENT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728216"/>
            <a:ext cx="1463040" cy="484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0">
                <a:solidFill>
                  <a:srgbClr val="8B949E"/>
                </a:solidFill>
                <a:latin typeface="Aptos"/>
              </a:rPr>
              <a:t>AI Plan → Patch
Build / 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5936" y="1298448"/>
            <a:ext cx="1691640" cy="987552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45936" y="1298448"/>
            <a:ext cx="54864" cy="9875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389888"/>
            <a:ext cx="146304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50" b="1">
                <a:solidFill>
                  <a:srgbClr val="E6EDF3"/>
                </a:solidFill>
                <a:latin typeface="Aptos"/>
              </a:rPr>
              <a:t>04 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728216"/>
            <a:ext cx="1463040" cy="484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0">
                <a:solidFill>
                  <a:srgbClr val="8B949E"/>
                </a:solidFill>
                <a:latin typeface="Aptos"/>
              </a:rPr>
              <a:t>HW ↔ Guide ↔ Code
Evidence gate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93608" y="1298448"/>
            <a:ext cx="1691640" cy="987552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93608" y="1298448"/>
            <a:ext cx="54864" cy="9875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2" y="1389888"/>
            <a:ext cx="146304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50" b="1">
                <a:solidFill>
                  <a:srgbClr val="E6EDF3"/>
                </a:solidFill>
                <a:latin typeface="Aptos"/>
              </a:rPr>
              <a:t>05 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1728216"/>
            <a:ext cx="1463040" cy="484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0">
                <a:solidFill>
                  <a:srgbClr val="8B949E"/>
                </a:solidFill>
                <a:latin typeface="Aptos"/>
              </a:rPr>
              <a:t>Static / Contract / UT
Risk-based VP / H-Zebu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0" y="1298448"/>
            <a:ext cx="1444752" cy="987552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241280" y="1298448"/>
            <a:ext cx="54864" cy="9875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87584" y="1389888"/>
            <a:ext cx="121615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50" b="1">
                <a:solidFill>
                  <a:srgbClr val="E6EDF3"/>
                </a:solidFill>
                <a:latin typeface="Aptos"/>
              </a:rPr>
              <a:t>06  RELEASE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87584" y="1728216"/>
            <a:ext cx="1216152" cy="4846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0">
                <a:solidFill>
                  <a:srgbClr val="8B949E"/>
                </a:solidFill>
                <a:latin typeface="Aptos"/>
              </a:rPr>
              <a:t>Silicon
Commercial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194560" y="1792224"/>
            <a:ext cx="228600" cy="0"/>
          </a:xfrm>
          <a:prstGeom prst="line">
            <a:avLst/>
          </a:prstGeom>
          <a:ln w="2286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142232" y="1792224"/>
            <a:ext cx="228599" cy="0"/>
          </a:xfrm>
          <a:prstGeom prst="line">
            <a:avLst/>
          </a:prstGeom>
          <a:ln w="2286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9904" y="1792224"/>
            <a:ext cx="228600" cy="0"/>
          </a:xfrm>
          <a:prstGeom prst="line">
            <a:avLst/>
          </a:prstGeom>
          <a:ln w="2286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037576" y="1792224"/>
            <a:ext cx="228600" cy="0"/>
          </a:xfrm>
          <a:prstGeom prst="line">
            <a:avLst/>
          </a:prstGeom>
          <a:ln w="2286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985248" y="1792224"/>
            <a:ext cx="228600" cy="0"/>
          </a:xfrm>
          <a:prstGeom prst="line">
            <a:avLst/>
          </a:prstGeom>
          <a:ln w="2286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02920" y="2743200"/>
            <a:ext cx="2743200" cy="1481328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2743200"/>
            <a:ext cx="54864" cy="14813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" y="2834640"/>
            <a:ext cx="25146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50" b="1">
                <a:solidFill>
                  <a:srgbClr val="E6EDF3"/>
                </a:solidFill>
                <a:latin typeface="Aptos"/>
              </a:rPr>
              <a:t>ENGINEERING KNOWLEDGE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" y="3172968"/>
            <a:ext cx="2514600" cy="9784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0">
                <a:solidFill>
                  <a:srgbClr val="8B949E"/>
                </a:solidFill>
                <a:latin typeface="Aptos"/>
              </a:rPr>
              <a:t>Code Graph • Register DB • Design Guide
Historical Change • Bug / Issue • Verification
Machine-generated + Human-curated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93008" y="2743200"/>
            <a:ext cx="2331720" cy="1481328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93008" y="2743200"/>
            <a:ext cx="54864" cy="14813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39312" y="2834640"/>
            <a:ext cx="21031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50" b="1">
                <a:solidFill>
                  <a:srgbClr val="E6EDF3"/>
                </a:solidFill>
                <a:latin typeface="Aptos"/>
              </a:rPr>
              <a:t>AI AGENT LAYER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9312" y="3172968"/>
            <a:ext cx="2103120" cy="9784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0">
                <a:solidFill>
                  <a:srgbClr val="8B949E"/>
                </a:solidFill>
                <a:latin typeface="Aptos"/>
              </a:rPr>
              <a:t>Change Analyst
Implementation Agent
Review / Verification Agent
Knowledge Agent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71616" y="2743200"/>
            <a:ext cx="2423160" cy="1481328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71616" y="2743200"/>
            <a:ext cx="54864" cy="14813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2834640"/>
            <a:ext cx="219456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50" b="1">
                <a:solidFill>
                  <a:srgbClr val="E6EDF3"/>
                </a:solidFill>
                <a:latin typeface="Aptos"/>
              </a:rPr>
              <a:t>EVIDENCE LAYER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3172968"/>
            <a:ext cx="2194560" cy="9784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0">
                <a:solidFill>
                  <a:srgbClr val="8B949E"/>
                </a:solidFill>
                <a:latin typeface="Aptos"/>
              </a:rPr>
              <a:t>Register consistency
Design / Code consistency
Test &amp; simulation evidence
Historical precedent / confidence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41664" y="2743200"/>
            <a:ext cx="2944368" cy="1481328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41664" y="2743200"/>
            <a:ext cx="54864" cy="14813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87968" y="2834640"/>
            <a:ext cx="2715768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50" b="1">
                <a:solidFill>
                  <a:srgbClr val="E6EDF3"/>
                </a:solidFill>
                <a:latin typeface="Aptos"/>
              </a:rPr>
              <a:t>ONE DASHBOARD / JIRA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87968" y="3172968"/>
            <a:ext cx="2715768" cy="9784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0">
                <a:solidFill>
                  <a:srgbClr val="8B949E"/>
                </a:solidFill>
                <a:latin typeface="Aptos"/>
              </a:rPr>
              <a:t>HW Change → Design → Code → Review
→ Test → VP → H-Zebu → Silicon → Commercial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810512" y="2286000"/>
            <a:ext cx="0" cy="438912"/>
          </a:xfrm>
          <a:prstGeom prst="line">
            <a:avLst/>
          </a:prstGeom>
          <a:ln w="228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63440" y="2286000"/>
            <a:ext cx="0" cy="438912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278624" y="2286000"/>
            <a:ext cx="0" cy="438912"/>
          </a:xfrm>
          <a:prstGeom prst="line">
            <a:avLst/>
          </a:prstGeom>
          <a:ln w="2286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213848" y="2286000"/>
            <a:ext cx="0" cy="438912"/>
          </a:xfrm>
          <a:prstGeom prst="line">
            <a:avLst/>
          </a:prstGeom>
          <a:ln w="2286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30352" y="4590288"/>
            <a:ext cx="10972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8B949E"/>
                </a:solidFill>
                <a:latin typeface="Aptos"/>
              </a:rPr>
              <a:t>KEY TRANSFORMATION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4956048"/>
            <a:ext cx="3246120" cy="1024128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2920" y="4956048"/>
            <a:ext cx="54864" cy="10241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" y="5047488"/>
            <a:ext cx="30175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50" b="1">
                <a:solidFill>
                  <a:srgbClr val="E6EDF3"/>
                </a:solidFill>
                <a:latin typeface="Aptos"/>
              </a:rPr>
              <a:t>Coverage-driven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" y="5385816"/>
            <a:ext cx="3017520" cy="5212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0">
                <a:solidFill>
                  <a:srgbClr val="8B949E"/>
                </a:solidFill>
                <a:latin typeface="Aptos"/>
              </a:rPr>
              <a:t>Add more tests → diminishing returns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94760" y="5074920"/>
            <a:ext cx="411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38BDF8"/>
                </a:solidFill>
                <a:latin typeface="Aptos"/>
              </a:rPr>
              <a:t>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24528" y="4956048"/>
            <a:ext cx="3246120" cy="1024128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24528" y="4956048"/>
            <a:ext cx="54864" cy="10241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70832" y="5047488"/>
            <a:ext cx="30175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50" b="1">
                <a:solidFill>
                  <a:srgbClr val="E6EDF3"/>
                </a:solidFill>
                <a:latin typeface="Aptos"/>
              </a:rPr>
              <a:t>Evidence-driven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70832" y="5385816"/>
            <a:ext cx="3017520" cy="5212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0">
                <a:solidFill>
                  <a:srgbClr val="8B949E"/>
                </a:solidFill>
                <a:latin typeface="Aptos"/>
              </a:rPr>
              <a:t>Combine independent evidence by risk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16368" y="5074920"/>
            <a:ext cx="411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38BDF8"/>
                </a:solidFill>
                <a:latin typeface="Aptos"/>
              </a:rPr>
              <a:t>→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946136" y="4956048"/>
            <a:ext cx="3739896" cy="1024128"/>
          </a:xfrm>
          <a:prstGeom prst="roundRect">
            <a:avLst/>
          </a:prstGeom>
          <a:solidFill>
            <a:srgbClr val="191F2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946136" y="4956048"/>
            <a:ext cx="54864" cy="10241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92440" y="5047488"/>
            <a:ext cx="3511296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50" b="1">
                <a:solidFill>
                  <a:srgbClr val="E6EDF3"/>
                </a:solidFill>
                <a:latin typeface="Aptos"/>
              </a:rPr>
              <a:t>ENGINEERING OUTCOME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92440" y="5385816"/>
            <a:ext cx="3511296" cy="5212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0">
                <a:solidFill>
                  <a:srgbClr val="8B949E"/>
                </a:solidFill>
                <a:latin typeface="Aptos"/>
              </a:rPr>
              <a:t>Lower escape rate • faster bring-up • less effort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