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1" autoCompressPictures="0">
  <p:sldMasterIdLst>
    <p:sldMasterId id="2147483650" r:id="rId3"/>
  </p:sldMasterIdLst>
  <p:notesMasterIdLst>
    <p:notesMasterId r:id="rId5"/>
  </p:notesMasterIdLst>
  <p:sldIdLst>
    <p:sldId id="256" r:id="rId7"/>
    <p:sldId id="257" r:id="rId8"/>
    <p:sldId id="258" r:id="rId10"/>
    <p:sldId id="259" r:id="rId12"/>
    <p:sldId id="260" r:id="rId14"/>
    <p:sldId id="261" r:id="rId16"/>
    <p:sldId id="262" r:id="rId18"/>
    <p:sldId id="263" r:id="rId20"/>
  </p:sldIdLst>
  <p:notesMasterIdLst/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tableStyles" Target="tableStyles.xml"></Relationship><Relationship Id="rId3" Type="http://schemas.openxmlformats.org/officeDocument/2006/relationships/slideMaster" Target="slideMasters/slideMaster1.xml"></Relationship><Relationship Id="rId4" Type="http://schemas.openxmlformats.org/officeDocument/2006/relationships/theme" Target="theme/theme1.xml"></Relationship><Relationship Id="rId5" Type="http://schemas.openxmlformats.org/officeDocument/2006/relationships/notesMaster" Target="notesMasters/notesMaster1.xml"></Relationship><Relationship Id="rId7" Type="http://schemas.openxmlformats.org/officeDocument/2006/relationships/slide" Target="slides/slide1.xml"></Relationship><Relationship Id="rId8" Type="http://schemas.openxmlformats.org/officeDocument/2006/relationships/slide" Target="slides/slide2.xml"></Relationship><Relationship Id="rId10" Type="http://schemas.openxmlformats.org/officeDocument/2006/relationships/slide" Target="slides/slide3.xml"></Relationship><Relationship Id="rId12" Type="http://schemas.openxmlformats.org/officeDocument/2006/relationships/slide" Target="slides/slide4.xml"></Relationship><Relationship Id="rId14" Type="http://schemas.openxmlformats.org/officeDocument/2006/relationships/slide" Target="slides/slide5.xml"></Relationship><Relationship Id="rId16" Type="http://schemas.openxmlformats.org/officeDocument/2006/relationships/slide" Target="slides/slide6.xml"></Relationship><Relationship Id="rId18" Type="http://schemas.openxmlformats.org/officeDocument/2006/relationships/slide" Target="slides/slide7.xml"></Relationship><Relationship Id="rId20" Type="http://schemas.openxmlformats.org/officeDocument/2006/relationships/slide" Target="slides/slide8.xml"></Relationship><Relationship Id="rId23" Type="http://schemas.openxmlformats.org/officeDocument/2006/relationships/viewProps" Target="viewProps.xml"></Relationship><Relationship Id="rId24" Type="http://schemas.openxmlformats.org/officeDocument/2006/relationships/presProps" Target="presProps.xml"></Relationship></Relationships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2.xml"></Relationship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.xml"></Relationship></Relationships>
</file>

<file path=ppt/notesSlides/_rels/notesSlide2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2.xml"></Relationship></Relationships>
</file>

<file path=ppt/notesSlides/_rels/notesSlide3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3.xml"></Relationship></Relationships>
</file>

<file path=ppt/notesSlides/_rels/notesSlide4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4.xml"></Relationship></Relationships>
</file>

<file path=ppt/notesSlides/_rels/notesSlide5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5.xml"></Relationship></Relationships>
</file>

<file path=ppt/notesSlides/_rels/notesSlide6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6.xml"></Relationship></Relationships>
</file>

<file path=ppt/notesSlides/_rels/notesSlide7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7.xml"></Relationship></Relationships>
</file>

<file path=ppt/notesSlides/_rels/notesSlide8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8.xml"></Relationship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
<Relationships xmlns="http://schemas.openxmlformats.org/package/2006/relationships"><Relationship Id="rId2" Type="http://schemas.openxmlformats.org/officeDocument/2006/relationships/notesSlide" Target="../notesSlides/notesSlide1.xml"></Relationship><Relationship Id="rId3" Type="http://schemas.openxmlformats.org/officeDocument/2006/relationships/slideLayout" Target="../slideLayouts/slideLayout1.xml"></Relationship></Relationships>
</file>

<file path=ppt/slides/_rels/slide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2.xml"></Relationship></Relationships>
</file>

<file path=ppt/slides/_rels/slide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3.xml"></Relationship></Relationships>
</file>

<file path=ppt/slides/_rels/slide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4.xml"></Relationship></Relationships>
</file>

<file path=ppt/slides/_rels/slide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5.xml"></Relationship></Relationships>
</file>

<file path=ppt/slides/_rels/slide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6.xml"></Relationship></Relationships>
</file>

<file path=ppt/slides/_rels/slide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7.xml"></Relationship></Relationships>
</file>

<file path=ppt/slides/_rels/slide8.xml.rels><?xml version="1.0" encoding="UTF-8"?>
<Relationships xmlns="http://schemas.openxmlformats.org/package/2006/relationships"><Relationship Id="rId2" Type="http://schemas.openxmlformats.org/officeDocument/2006/relationships/notesSlide" Target="../notesSlides/notesSlide8.xml"></Relationship><Relationship Id="rId3" Type="http://schemas.openxmlformats.org/officeDocument/2006/relationships/slideLayout" Target="../slideLayouts/slideLayout1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737360"/>
            <a:ext cx="914400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474720"/>
            <a:ext cx="914400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5212080"/>
            <a:ext cx="914400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-1645920"/>
            <a:ext cx="5029200" cy="5029200"/>
          </a:xfrm>
          <a:prstGeom prst="ellipse">
            <a:avLst/>
          </a:prstGeom>
          <a:solidFill>
            <a:srgbClr val="A855F7">
              <a:alpha val="12000"/>
            </a:srgbClr>
          </a:solidFill>
          <a:ln w="12700">
            <a:solidFill>
              <a:srgbClr val="A855F7">
                <a:alpha val="1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00E5FF">
              <a:alpha val="8000"/>
            </a:srgbClr>
          </a:solidFill>
          <a:ln w="12700">
            <a:solidFill>
              <a:srgbClr val="00E5FF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EC4899">
              <a:alpha val="8000"/>
            </a:srgbClr>
          </a:solidFill>
          <a:ln w="12700">
            <a:solidFill>
              <a:srgbClr val="EC4899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502920"/>
            <a:ext cx="1645920" cy="347345"/>
          </a:xfrm>
          <a:prstGeom prst="roundRect">
            <a:avLst>
              <a:gd name="adj" fmla="val 15789"/>
            </a:avLst>
          </a:prstGeom>
          <a:solidFill>
            <a:srgbClr val="00E5FF">
              <a:alpha val="18000"/>
            </a:srgbClr>
          </a:solidFill>
          <a:ln w="12700">
            <a:solidFill>
              <a:srgbClr val="00E5FF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502920"/>
            <a:ext cx="1645920" cy="3473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2026.06.21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10515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팀장에게 주어진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548640" y="1691640"/>
            <a:ext cx="8230235" cy="1143635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6200" b="1">
                <a:solidFill>
                  <a:srgbClr val="FFFFFF"/>
                </a:solidFill>
                <a:latin typeface="Calibri" charset="0"/>
                <a:ea typeface="Calibri" charset="0"/>
                <a:cs typeface="Calibri" charset="0"/>
              </a:rPr>
              <a:t>10번의 기회</a:t>
            </a:r>
            <a:endParaRPr lang="ko-KR" altLang="en-US" sz="6200" b="1">
              <a:solidFill>
                <a:srgbClr val="FFFFFF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48640" y="2880360"/>
            <a:ext cx="5029200" cy="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0632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팀장이 갖는 매 순간의 기회를 통해 팀과 함께 성장하는 법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3794760"/>
            <a:ext cx="1600200" cy="347345"/>
          </a:xfrm>
          <a:prstGeom prst="roundRect">
            <a:avLst>
              <a:gd name="adj" fmla="val 50000"/>
            </a:avLst>
          </a:prstGeom>
          <a:solidFill>
            <a:srgbClr val="00E5FF">
              <a:alpha val="18000"/>
            </a:srgbClr>
          </a:solidFill>
          <a:ln w="12700">
            <a:solidFill>
              <a:srgbClr val="00E5FF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794760"/>
            <a:ext cx="1600200" cy="3473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3장 저성과자 관리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0" y="3794760"/>
            <a:ext cx="1600200" cy="347345"/>
          </a:xfrm>
          <a:prstGeom prst="roundRect">
            <a:avLst>
              <a:gd name="adj" fmla="val 50000"/>
            </a:avLst>
          </a:prstGeom>
          <a:solidFill>
            <a:srgbClr val="A855F7">
              <a:alpha val="18000"/>
            </a:srgbClr>
          </a:solidFill>
          <a:ln w="12700">
            <a:solidFill>
              <a:srgbClr val="A855F7">
                <a:alpha val="5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0" y="3794760"/>
            <a:ext cx="1600200" cy="3473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4장 관계 설정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023360" y="3794760"/>
            <a:ext cx="1600200" cy="347345"/>
          </a:xfrm>
          <a:prstGeom prst="roundRect">
            <a:avLst>
              <a:gd name="adj" fmla="val 50000"/>
            </a:avLst>
          </a:prstGeom>
          <a:solidFill>
            <a:srgbClr val="EC4899">
              <a:alpha val="18000"/>
            </a:srgbClr>
          </a:solidFill>
          <a:ln w="12700">
            <a:solidFill>
              <a:srgbClr val="EC4899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23360" y="3794760"/>
            <a:ext cx="1600200" cy="3473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5장 역량 우수 팀원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760720" y="3794760"/>
            <a:ext cx="1600200" cy="347345"/>
          </a:xfrm>
          <a:prstGeom prst="roundRect">
            <a:avLst>
              <a:gd name="adj" fmla="val 50000"/>
            </a:avLst>
          </a:prstGeom>
          <a:solidFill>
            <a:srgbClr val="10B981">
              <a:alpha val="18000"/>
            </a:srgbClr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60720" y="3794760"/>
            <a:ext cx="1600200" cy="3473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6장 시니어 협업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498080" y="3794760"/>
            <a:ext cx="1600200" cy="347345"/>
          </a:xfrm>
          <a:prstGeom prst="roundRect">
            <a:avLst>
              <a:gd name="adj" fmla="val 50000"/>
            </a:avLst>
          </a:prstGeom>
          <a:solidFill>
            <a:srgbClr val="F59E0B">
              <a:alpha val="18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0" y="3794760"/>
            <a:ext cx="1600200" cy="3473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8장 면접관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15240">
            <a:solidFill>
              <a:srgbClr val="00E5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01168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0E5FF">
              <a:alpha val="25000"/>
            </a:srgbClr>
          </a:solidFill>
          <a:ln w="12700">
            <a:solidFill>
              <a:srgbClr val="00E5FF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01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3장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914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저성과자 관리로 얻은 세 번째 기회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0" y="1097280"/>
            <a:ext cx="2743200" cy="658368"/>
          </a:xfrm>
          <a:prstGeom prst="roundRect">
            <a:avLst>
              <a:gd name="adj" fmla="val 13889"/>
            </a:avLst>
          </a:prstGeom>
          <a:solidFill>
            <a:srgbClr val="1E293B"/>
          </a:solidFill>
          <a:ln w="12700">
            <a:solidFill>
              <a:srgbClr val="00E5FF"/>
            </a:solidFill>
            <a:prstDash val="solid"/>
          </a:ln>
          <a:effectLst>
            <a:outerShdw sx="100000" sy="100000" kx="0" ky="0" algn="bl" rotWithShape="0" blurRad="228600" dist="50800" dir="2700000">
              <a:srgbClr val="00E5FF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109728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저성과 팀원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00400" y="1755648"/>
            <a:ext cx="0" cy="347472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63040" y="2103120"/>
            <a:ext cx="621792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63040" y="2103120"/>
            <a:ext cx="0" cy="274320"/>
          </a:xfrm>
          <a:prstGeom prst="line">
            <a:avLst/>
          </a:prstGeom>
          <a:noFill/>
          <a:ln w="12700">
            <a:solidFill>
              <a:srgbClr val="A855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0" y="2103120"/>
            <a:ext cx="0" cy="27432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377440"/>
            <a:ext cx="2331720" cy="475488"/>
          </a:xfrm>
          <a:prstGeom prst="roundRect">
            <a:avLst>
              <a:gd name="adj" fmla="val 19231"/>
            </a:avLst>
          </a:prstGeom>
          <a:solidFill>
            <a:srgbClr val="A855F7">
              <a:alpha val="2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37744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저성과자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040" y="2999232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A855F7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99923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낮은 목표 제시 절대 금지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456432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A855F7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345643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Order 방식 적용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913632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A855F7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391363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· Study · Risk · Contribution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4370832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A855F7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437083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팀원에게 맞는 목표 과업 매칭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92240" y="2377440"/>
            <a:ext cx="2331720" cy="475488"/>
          </a:xfrm>
          <a:prstGeom prst="roundRect">
            <a:avLst>
              <a:gd name="adj" fmla="val 19231"/>
            </a:avLst>
          </a:prstGeom>
          <a:solidFill>
            <a:srgbClr val="00E5FF">
              <a:alpha val="2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237744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저성과 상태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92240" y="2999232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01968" y="299923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구체적 설명 + 정기 미팅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92240" y="3456432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01968" y="345643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성과 개선 시 강도·주기 조절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92240" y="3913632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01968" y="391363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마감 날짜 명확히 설정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92240" y="4370832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01968" y="437083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단기 개선 가능 → 지속 관찰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926080" y="2377440"/>
            <a:ext cx="3291840" cy="2450592"/>
          </a:xfrm>
          <a:prstGeom prst="roundRect">
            <a:avLst>
              <a:gd name="adj" fmla="val 3731"/>
            </a:avLst>
          </a:prstGeom>
          <a:solidFill>
            <a:srgbClr val="0F172A"/>
          </a:solidFill>
          <a:ln w="12700">
            <a:solidFill>
              <a:srgbClr val="10B981">
                <a:alpha val="6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10B981">
                <a:alpha val="1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2926080" y="24505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 원칙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063240" y="292608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목표 수준 결코 낮추지 않기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063240" y="3456432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팀원 개인에게 맞춘 과업 설계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063240" y="3986784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정기적 체크인 &amp; 피드백 루프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15240">
            <a:solidFill>
              <a:srgbClr val="A855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01168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A855F7">
              <a:alpha val="25000"/>
            </a:srgbClr>
          </a:solidFill>
          <a:ln w="12700">
            <a:solidFill>
              <a:srgbClr val="A855F7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01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4장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914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새로운 관계를 설정할 네 번째 기회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2377440"/>
            <a:ext cx="7498080" cy="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920240"/>
            <a:ext cx="896112" cy="896112"/>
          </a:xfrm>
          <a:prstGeom prst="ellipse">
            <a:avLst/>
          </a:prstGeom>
          <a:solidFill>
            <a:srgbClr val="00E5FF">
              <a:alpha val="20000"/>
            </a:srgbClr>
          </a:solidFill>
          <a:ln w="12700">
            <a:solidFill>
              <a:srgbClr val="00E5FF"/>
            </a:solidFill>
            <a:prstDash val="solid"/>
          </a:ln>
          <a:effectLst>
            <a:outerShdw sx="100000" sy="100000" kx="0" ky="0" algn="bl" rotWithShape="0" blurRad="177800" dist="50800" dir="2700000">
              <a:srgbClr val="00E5FF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1920240"/>
            <a:ext cx="8961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944368"/>
            <a:ext cx="1920240" cy="192024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12700">
            <a:solidFill>
              <a:srgbClr val="00E5FF">
                <a:alpha val="45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E5FF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30175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질문으로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이끌기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611880"/>
            <a:ext cx="1737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가르치지 말고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질문을 받는다.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고민을 먼저 듣는다.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77440" y="2011680"/>
            <a:ext cx="201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788920" y="1920240"/>
            <a:ext cx="896112" cy="896112"/>
          </a:xfrm>
          <a:prstGeom prst="ellipse">
            <a:avLst/>
          </a:prstGeom>
          <a:solidFill>
            <a:srgbClr val="A855F7">
              <a:alpha val="20000"/>
            </a:srgbClr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177800" dist="50800" dir="2700000">
              <a:srgbClr val="A855F7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88920" y="1920240"/>
            <a:ext cx="8961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560320" y="2944368"/>
            <a:ext cx="1920240" cy="192024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12700">
            <a:solidFill>
              <a:srgbClr val="A855F7">
                <a:alpha val="45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A855F7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560320" y="30175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의견 공유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하기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51760" y="3611880"/>
            <a:ext cx="1737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상대 질문을 듣고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 의견을 나눈다.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판단은 나중에.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480560" y="2011680"/>
            <a:ext cx="201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892040" y="1920240"/>
            <a:ext cx="896112" cy="896112"/>
          </a:xfrm>
          <a:prstGeom prst="ellipse">
            <a:avLst/>
          </a:prstGeom>
          <a:solidFill>
            <a:srgbClr val="EC4899">
              <a:alpha val="20000"/>
            </a:srgbClr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77800" dist="50800" dir="2700000">
              <a:srgbClr val="EC4899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92040" y="1920240"/>
            <a:ext cx="8961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663440" y="2944368"/>
            <a:ext cx="1920240" cy="192024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12700">
            <a:solidFill>
              <a:srgbClr val="EC4899">
                <a:alpha val="45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EC4899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663440" y="30175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 주도권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위임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54880" y="3611880"/>
            <a:ext cx="1737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"적용하고 싶은 게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있나요?"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팀원이 결정한다.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83680" y="2011680"/>
            <a:ext cx="201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995160" y="1920240"/>
            <a:ext cx="896112" cy="896112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77800" dist="50800" dir="2700000">
              <a:srgbClr val="10B981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995160" y="1920240"/>
            <a:ext cx="8961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766560" y="2944368"/>
            <a:ext cx="1920240" cy="192024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12700">
            <a:solidFill>
              <a:srgbClr val="10B981">
                <a:alpha val="45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10B981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766560" y="30175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온보딩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지원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858000" y="3611880"/>
            <a:ext cx="1737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스킬·툴·프로세스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팀원의 적응을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적극 도와준다.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1024128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A855F7">
              <a:alpha val="12000"/>
            </a:srgbClr>
          </a:solidFill>
          <a:ln w="12700">
            <a:solidFill>
              <a:srgbClr val="A855F7">
                <a:alpha val="4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10241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팀장이 먼저 답을 주지 않는다 — 팀원 스스로 선택하고 성장하도록 공간을 만든다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15240">
            <a:solidFill>
              <a:srgbClr val="EC48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01168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C4899">
              <a:alpha val="25000"/>
            </a:srgbClr>
          </a:solidFill>
          <a:ln w="12700">
            <a:solidFill>
              <a:srgbClr val="EC4899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01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5장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914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팀장보다 역량이 우수한 직원과의 원온원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3200400" cy="777240"/>
          </a:xfrm>
          <a:prstGeom prst="roundRect">
            <a:avLst>
              <a:gd name="adj" fmla="val 11765"/>
            </a:avLst>
          </a:prstGeom>
          <a:solidFill>
            <a:srgbClr val="111827"/>
          </a:solidFill>
          <a:ln w="12700">
            <a:solidFill>
              <a:srgbClr val="EC4899">
                <a:alpha val="35000"/>
              </a:srgbClr>
            </a:solidFill>
            <a:prstDash val="solid"/>
          </a:ln>
          <a:effectLst>
            <a:outerShdw sx="100000" sy="100000" kx="0" ky="0" algn="bl" rotWithShape="0" blurRad="127000" dist="50800" dir="2700000">
              <a:srgbClr val="EC4899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115568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24128" y="1115568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구조화된 질문 세트 활용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048256"/>
            <a:ext cx="3200400" cy="777240"/>
          </a:xfrm>
          <a:prstGeom prst="roundRect">
            <a:avLst>
              <a:gd name="adj" fmla="val 11765"/>
            </a:avLst>
          </a:prstGeom>
          <a:solidFill>
            <a:srgbClr val="111827"/>
          </a:solidFill>
          <a:ln w="12700">
            <a:solidFill>
              <a:srgbClr val="EC4899">
                <a:alpha val="35000"/>
              </a:srgbClr>
            </a:solidFill>
            <a:prstDash val="solid"/>
          </a:ln>
          <a:effectLst>
            <a:outerShdw sx="100000" sy="100000" kx="0" ky="0" algn="bl" rotWithShape="0" blurRad="127000" dist="50800" dir="2700000">
              <a:srgbClr val="EC4899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2048256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24128" y="2048256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자율적 의사결정 지원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980944"/>
            <a:ext cx="3200400" cy="777240"/>
          </a:xfrm>
          <a:prstGeom prst="roundRect">
            <a:avLst>
              <a:gd name="adj" fmla="val 11765"/>
            </a:avLst>
          </a:prstGeom>
          <a:solidFill>
            <a:srgbClr val="111827"/>
          </a:solidFill>
          <a:ln w="12700">
            <a:solidFill>
              <a:srgbClr val="EC4899">
                <a:alpha val="35000"/>
              </a:srgbClr>
            </a:solidFill>
            <a:prstDash val="solid"/>
          </a:ln>
          <a:effectLst>
            <a:outerShdw sx="100000" sy="100000" kx="0" ky="0" algn="bl" rotWithShape="0" blurRad="127000" dist="50800" dir="2700000">
              <a:srgbClr val="EC4899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2980944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24128" y="2980944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팀·회사 기여 목표 Align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3913632"/>
            <a:ext cx="3200400" cy="777240"/>
          </a:xfrm>
          <a:prstGeom prst="roundRect">
            <a:avLst>
              <a:gd name="adj" fmla="val 11765"/>
            </a:avLst>
          </a:prstGeom>
          <a:solidFill>
            <a:srgbClr val="111827"/>
          </a:solidFill>
          <a:ln w="12700">
            <a:solidFill>
              <a:srgbClr val="EC4899">
                <a:alpha val="35000"/>
              </a:srgbClr>
            </a:solidFill>
            <a:prstDash val="solid"/>
          </a:ln>
          <a:effectLst>
            <a:outerShdw sx="100000" sy="100000" kx="0" ky="0" algn="bl" rotWithShape="0" blurRad="127000" dist="50800" dir="2700000">
              <a:srgbClr val="EC4899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3913632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24128" y="391363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중간 Fast Feedback + 지원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749040" y="1051560"/>
            <a:ext cx="0" cy="3840480"/>
          </a:xfrm>
          <a:prstGeom prst="line">
            <a:avLst/>
          </a:prstGeom>
          <a:noFill/>
          <a:ln w="15240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0" y="105156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구조화된 질문 세트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931920" y="1572768"/>
            <a:ext cx="4892040" cy="512064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00E5FF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77640" y="1655064"/>
            <a:ext cx="338328" cy="338328"/>
          </a:xfrm>
          <a:prstGeom prst="ellipse">
            <a:avLst/>
          </a:prstGeom>
          <a:solidFill>
            <a:srgbClr val="00E5FF">
              <a:alpha val="28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77640" y="1655064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407408" y="1572768"/>
            <a:ext cx="43159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목표는? 회사·팀이 중요하게 생각하는 부분?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931920" y="2176272"/>
            <a:ext cx="4892040" cy="512064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A855F7">
                <a:alpha val="3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977640" y="2258568"/>
            <a:ext cx="338328" cy="338328"/>
          </a:xfrm>
          <a:prstGeom prst="ellipse">
            <a:avLst/>
          </a:prstGeom>
          <a:solidFill>
            <a:srgbClr val="A855F7">
              <a:alpha val="28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77640" y="2258568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407408" y="2176272"/>
            <a:ext cx="43159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실행 시 예상 결과는?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931920" y="2779776"/>
            <a:ext cx="4892040" cy="512064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EC4899">
                <a:alpha val="3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977640" y="2862072"/>
            <a:ext cx="338328" cy="338328"/>
          </a:xfrm>
          <a:prstGeom prst="ellipse">
            <a:avLst/>
          </a:prstGeom>
          <a:solidFill>
            <a:srgbClr val="EC4899">
              <a:alpha val="28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77640" y="2862072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407408" y="2779776"/>
            <a:ext cx="43159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실패 가능 이유와 해결 방법은?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931920" y="3383280"/>
            <a:ext cx="4892040" cy="512064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10B981">
                <a:alpha val="3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977640" y="3465576"/>
            <a:ext cx="338328" cy="338328"/>
          </a:xfrm>
          <a:prstGeom prst="ellipse">
            <a:avLst/>
          </a:prstGeom>
          <a:solidFill>
            <a:srgbClr val="10B981">
              <a:alpha val="28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77640" y="3465576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407408" y="3383280"/>
            <a:ext cx="43159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중간 피드백 최적 시점은?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931920" y="3986784"/>
            <a:ext cx="4892040" cy="512064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F59E0B">
                <a:alpha val="3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977640" y="4069080"/>
            <a:ext cx="338328" cy="338328"/>
          </a:xfrm>
          <a:prstGeom prst="ellipse">
            <a:avLst/>
          </a:prstGeom>
          <a:solidFill>
            <a:srgbClr val="F59E0B">
              <a:alpha val="2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77640" y="406908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407408" y="3986784"/>
            <a:ext cx="43159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성과를 무엇으로 확인할 수 있나?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931920" y="4590288"/>
            <a:ext cx="4892040" cy="512064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00E5FF">
                <a:alpha val="3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977640" y="4672584"/>
            <a:ext cx="338328" cy="338328"/>
          </a:xfrm>
          <a:prstGeom prst="ellipse">
            <a:avLst/>
          </a:prstGeom>
          <a:solidFill>
            <a:srgbClr val="00E5FF">
              <a:alpha val="28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977640" y="4672584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407408" y="4590288"/>
            <a:ext cx="43159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팀장의 지원·참고 레퍼런스는?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1524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01168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0B981">
              <a:alpha val="25000"/>
            </a:srgbClr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01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6장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914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시니어 팀원과의 협업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8503920" cy="749808"/>
          </a:xfrm>
          <a:prstGeom prst="roundRect">
            <a:avLst>
              <a:gd name="adj" fmla="val 12195"/>
            </a:avLst>
          </a:prstGeom>
          <a:solidFill>
            <a:srgbClr val="0F172A"/>
          </a:solidFill>
          <a:ln w="12700">
            <a:solidFill>
              <a:srgbClr val="10B981">
                <a:alpha val="4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005840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1005840"/>
            <a:ext cx="5943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직무 생산성 정점: 30대 후반~40대 초반  |  50세 이후 연평균 약 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0" y="1005840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 감소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35240" y="1005840"/>
            <a:ext cx="1143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(신체·인지 요구 직무 두드러짐)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1874520"/>
            <a:ext cx="8503920" cy="548640"/>
          </a:xfrm>
          <a:prstGeom prst="roundRect">
            <a:avLst>
              <a:gd name="adj" fmla="val 13333"/>
            </a:avLst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87452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전략: 성장 의지를 끌어올리는 것이 아니라 — 이전과 다른 방식으로 도전하게 만드는 것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578608"/>
            <a:ext cx="2743200" cy="2377440"/>
          </a:xfrm>
          <a:prstGeom prst="roundRect">
            <a:avLst>
              <a:gd name="adj" fmla="val 5385"/>
            </a:avLst>
          </a:prstGeom>
          <a:solidFill>
            <a:srgbClr val="111827"/>
          </a:solidFill>
          <a:ln w="12700">
            <a:solidFill>
              <a:srgbClr val="00E5FF">
                <a:alpha val="55000"/>
              </a:srgbClr>
            </a:solidFill>
            <a:prstDash val="solid"/>
          </a:ln>
          <a:effectLst>
            <a:outerShdw sx="100000" sy="100000" kx="0" ky="0" algn="bl" rotWithShape="0" blurRad="177800" dist="50800" dir="2700000">
              <a:srgbClr val="00E5FF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0040" y="2697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11480" y="340156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문화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11480" y="3858768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새로운 지식·경험을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지속 학습하는 환경 조성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46120" y="2578608"/>
            <a:ext cx="2743200" cy="2377440"/>
          </a:xfrm>
          <a:prstGeom prst="roundRect">
            <a:avLst>
              <a:gd name="adj" fmla="val 5385"/>
            </a:avLst>
          </a:prstGeom>
          <a:solidFill>
            <a:srgbClr val="111827"/>
          </a:solidFill>
          <a:ln w="12700">
            <a:solidFill>
              <a:srgbClr val="A855F7">
                <a:alpha val="55000"/>
              </a:srgbClr>
            </a:solidFill>
            <a:prstDash val="solid"/>
          </a:ln>
          <a:effectLst>
            <a:outerShdw sx="100000" sy="100000" kx="0" ky="0" algn="bl" rotWithShape="0" blurRad="177800" dist="50800" dir="2700000">
              <a:srgbClr val="A855F7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46120" y="2697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3337560" y="340156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공유·도전 문화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337560" y="3858768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질문하고, 지식을 공유하며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서로 도전하는 팀 문화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72200" y="2578608"/>
            <a:ext cx="2743200" cy="2377440"/>
          </a:xfrm>
          <a:prstGeom prst="roundRect">
            <a:avLst>
              <a:gd name="adj" fmla="val 5385"/>
            </a:avLst>
          </a:prstGeom>
          <a:solidFill>
            <a:srgbClr val="111827"/>
          </a:solidFill>
          <a:ln w="12700">
            <a:solidFill>
              <a:srgbClr val="10B981">
                <a:alpha val="55000"/>
              </a:srgbClr>
            </a:solidFill>
            <a:prstDash val="solid"/>
          </a:ln>
          <a:effectLst>
            <a:outerShdw sx="100000" sy="100000" kx="0" ky="0" algn="bl" rotWithShape="0" blurRad="177800" dist="50800" dir="2700000">
              <a:srgbClr val="10B981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172200" y="2697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💪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263640" y="340156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운동 문화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63640" y="3858768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신체·인지 능력 유지를 위한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내 운동 문화 정착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01168"/>
            <a:ext cx="640080" cy="502920"/>
          </a:xfrm>
          <a:prstGeom prst="roundRect">
            <a:avLst>
              <a:gd name="adj" fmla="val 10909"/>
            </a:avLst>
          </a:prstGeom>
          <a:solidFill>
            <a:srgbClr val="F59E0B">
              <a:alpha val="25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0116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8장①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" y="914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면접관이 된 팀장 — 면접 기준과 태도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3291840" cy="3931920"/>
          </a:xfrm>
          <a:prstGeom prst="roundRect">
            <a:avLst>
              <a:gd name="adj" fmla="val 3333"/>
            </a:avLst>
          </a:prstGeom>
          <a:solidFill>
            <a:srgbClr val="111827"/>
          </a:solidFill>
          <a:ln w="12700">
            <a:solidFill>
              <a:srgbClr val="F59E0B">
                <a:alpha val="5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F59E0B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0972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면접자의 좋은 질문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508760"/>
            <a:ext cx="2926080" cy="0"/>
          </a:xfrm>
          <a:prstGeom prst="line">
            <a:avLst/>
          </a:prstGeom>
          <a:noFill/>
          <a:ln w="9525">
            <a:solidFill>
              <a:srgbClr val="F59E0B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664208"/>
            <a:ext cx="3017520" cy="530352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12700">
            <a:solidFill>
              <a:srgbClr val="F59E0B">
                <a:alpha val="28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664208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96112" y="1664208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입사 후 과업과 미션은?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322576"/>
            <a:ext cx="3017520" cy="530352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12700">
            <a:solidFill>
              <a:srgbClr val="F59E0B">
                <a:alpha val="2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322576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96112" y="2322576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회사의 미션과 비전은?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980944"/>
            <a:ext cx="3017520" cy="530352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 w="12700">
            <a:solidFill>
              <a:srgbClr val="F59E0B">
                <a:alpha val="28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980944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96112" y="2980944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부여되는 리소스·권한·책임은?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3017520" cy="1097280"/>
          </a:xfrm>
          <a:prstGeom prst="roundRect">
            <a:avLst>
              <a:gd name="adj" fmla="val 6667"/>
            </a:avLst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4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65760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면접관의 태도와 가치관은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회사 인재상으로 비친다.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면접은 성장과 학습의 시간.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40480" y="100584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면접 평가 기준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840480" y="1536192"/>
            <a:ext cx="1572768" cy="1572768"/>
          </a:xfrm>
          <a:prstGeom prst="roundRect">
            <a:avLst>
              <a:gd name="adj" fmla="val 5814"/>
            </a:avLst>
          </a:prstGeom>
          <a:solidFill>
            <a:srgbClr val="111827"/>
          </a:solidFill>
          <a:ln w="12700">
            <a:solidFill>
              <a:srgbClr val="00E5FF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50800" dir="2700000">
              <a:srgbClr val="00E5FF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361688" y="1645920"/>
            <a:ext cx="530352" cy="530352"/>
          </a:xfrm>
          <a:prstGeom prst="ellipse">
            <a:avLst/>
          </a:prstGeom>
          <a:solidFill>
            <a:srgbClr val="00E5FF">
              <a:alpha val="2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61688" y="16459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도전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913632" y="2286000"/>
            <a:ext cx="14264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어려운·새로운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목표에 도전하는가?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532120" y="1536192"/>
            <a:ext cx="1572768" cy="1572768"/>
          </a:xfrm>
          <a:prstGeom prst="roundRect">
            <a:avLst>
              <a:gd name="adj" fmla="val 5814"/>
            </a:avLst>
          </a:prstGeom>
          <a:solidFill>
            <a:srgbClr val="111827"/>
          </a:solidFill>
          <a:ln w="12700">
            <a:solidFill>
              <a:srgbClr val="A855F7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50800" dir="2700000">
              <a:srgbClr val="A855F7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53328" y="1645920"/>
            <a:ext cx="530352" cy="530352"/>
          </a:xfrm>
          <a:prstGeom prst="ellipse">
            <a:avLst/>
          </a:prstGeom>
          <a:solidFill>
            <a:srgbClr val="A855F7">
              <a:alpha val="2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53328" y="16459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경청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605272" y="2286000"/>
            <a:ext cx="14264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다른 의견을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듣고 반영하는가?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223760" y="1536192"/>
            <a:ext cx="1572768" cy="1572768"/>
          </a:xfrm>
          <a:prstGeom prst="roundRect">
            <a:avLst>
              <a:gd name="adj" fmla="val 5814"/>
            </a:avLst>
          </a:prstGeom>
          <a:solidFill>
            <a:srgbClr val="111827"/>
          </a:solidFill>
          <a:ln w="12700">
            <a:solidFill>
              <a:srgbClr val="EC4899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50800" dir="2700000">
              <a:srgbClr val="EC4899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744968" y="1645920"/>
            <a:ext cx="530352" cy="530352"/>
          </a:xfrm>
          <a:prstGeom prst="ellipse">
            <a:avLst/>
          </a:prstGeom>
          <a:solidFill>
            <a:srgbClr val="EC4899">
              <a:alpha val="20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44968" y="16459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296912" y="2286000"/>
            <a:ext cx="14264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피드백과 학습을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실천하는가?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840480" y="3255264"/>
            <a:ext cx="1572768" cy="1572768"/>
          </a:xfrm>
          <a:prstGeom prst="roundRect">
            <a:avLst>
              <a:gd name="adj" fmla="val 5814"/>
            </a:avLst>
          </a:prstGeom>
          <a:solidFill>
            <a:srgbClr val="111827"/>
          </a:solidFill>
          <a:ln w="12700">
            <a:solidFill>
              <a:srgbClr val="10B981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50800" dir="2700000">
              <a:srgbClr val="10B981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361688" y="3364992"/>
            <a:ext cx="530352" cy="530352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61688" y="33649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멘토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913632" y="4005072"/>
            <a:ext cx="14264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멘토/코치 및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멘티가 있는가?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532120" y="3255264"/>
            <a:ext cx="1572768" cy="1572768"/>
          </a:xfrm>
          <a:prstGeom prst="roundRect">
            <a:avLst>
              <a:gd name="adj" fmla="val 5814"/>
            </a:avLst>
          </a:prstGeom>
          <a:solidFill>
            <a:srgbClr val="111827"/>
          </a:solidFill>
          <a:ln w="12700">
            <a:solidFill>
              <a:srgbClr val="F59E0B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50800" dir="2700000">
              <a:srgbClr val="F59E0B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053328" y="3364992"/>
            <a:ext cx="530352" cy="530352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53328" y="33649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성찰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605272" y="4005072"/>
            <a:ext cx="14264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실패 원인을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내·외부에서 찾는가?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223760" y="3255264"/>
            <a:ext cx="1572768" cy="1572768"/>
          </a:xfrm>
          <a:prstGeom prst="roundRect">
            <a:avLst>
              <a:gd name="adj" fmla="val 5814"/>
            </a:avLst>
          </a:prstGeom>
          <a:solidFill>
            <a:srgbClr val="111827"/>
          </a:solidFill>
          <a:ln w="12700">
            <a:solidFill>
              <a:srgbClr val="00E5FF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50800" dir="2700000">
              <a:srgbClr val="00E5FF">
                <a:alpha val="1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7744968" y="3364992"/>
            <a:ext cx="530352" cy="530352"/>
          </a:xfrm>
          <a:prstGeom prst="ellipse">
            <a:avLst/>
          </a:prstGeom>
          <a:solidFill>
            <a:srgbClr val="00E5FF">
              <a:alpha val="2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44968" y="33649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인정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296912" y="4005072"/>
            <a:ext cx="14264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실패를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인정하는가?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15240">
            <a:solidFill>
              <a:srgbClr val="00E5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01168"/>
            <a:ext cx="640080" cy="502920"/>
          </a:xfrm>
          <a:prstGeom prst="roundRect">
            <a:avLst>
              <a:gd name="adj" fmla="val 10909"/>
            </a:avLst>
          </a:prstGeom>
          <a:solidFill>
            <a:srgbClr val="00E5FF">
              <a:alpha val="25000"/>
            </a:srgbClr>
          </a:solidFill>
          <a:ln w="12700">
            <a:solidFill>
              <a:srgbClr val="00E5FF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0116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8장②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" y="914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면접관이 된 팀장 — 겸손한 질문법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" y="987552"/>
            <a:ext cx="8503920" cy="566928"/>
          </a:xfrm>
          <a:prstGeom prst="roundRect">
            <a:avLst>
              <a:gd name="adj" fmla="val 12903"/>
            </a:avLst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4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8755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Decision Fatigue: 오후 면접일수록 나만의 논리적 접근과 단어에 더 신경 써야 한다.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719072"/>
            <a:ext cx="4251960" cy="1463040"/>
          </a:xfrm>
          <a:prstGeom prst="roundRect">
            <a:avLst>
              <a:gd name="adj" fmla="val 7500"/>
            </a:avLst>
          </a:prstGeom>
          <a:solidFill>
            <a:srgbClr val="111827"/>
          </a:solidFill>
          <a:ln w="12700">
            <a:solidFill>
              <a:srgbClr val="00E5FF">
                <a:alpha val="50000"/>
              </a:srgbClr>
            </a:solidFill>
            <a:prstDash val="solid"/>
          </a:ln>
          <a:effectLst>
            <a:outerShdw sx="100000" sy="100000" kx="0" ky="0" algn="bl" rotWithShape="0" blurRad="177800" dist="50800" dir="2700000">
              <a:srgbClr val="00E5FF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" y="184708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0E5FF">
              <a:alpha val="2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" y="18470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14984" y="1847088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판단 유보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" y="237744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선입견 없이 상대방의 말을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있는 그대로 받아들인다.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82312" y="1719072"/>
            <a:ext cx="4251960" cy="1463040"/>
          </a:xfrm>
          <a:prstGeom prst="roundRect">
            <a:avLst>
              <a:gd name="adj" fmla="val 7500"/>
            </a:avLst>
          </a:prstGeom>
          <a:solidFill>
            <a:srgbClr val="111827"/>
          </a:solidFill>
          <a:ln w="12700">
            <a:solidFill>
              <a:srgbClr val="A855F7">
                <a:alpha val="50000"/>
              </a:srgbClr>
            </a:solidFill>
            <a:prstDash val="solid"/>
          </a:ln>
          <a:effectLst>
            <a:outerShdw sx="100000" sy="100000" kx="0" ky="0" algn="bl" rotWithShape="0" blurRad="177800" dist="50800" dir="2700000">
              <a:srgbClr val="A855F7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910328" y="184708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A855F7">
              <a:alpha val="2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0328" y="18470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77256" y="1847088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적극적 경청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46904" y="237744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말 이면의 의도와 감정까지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귀 기울인다.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3319272"/>
            <a:ext cx="4251960" cy="1463040"/>
          </a:xfrm>
          <a:prstGeom prst="roundRect">
            <a:avLst>
              <a:gd name="adj" fmla="val 7500"/>
            </a:avLst>
          </a:prstGeom>
          <a:solidFill>
            <a:srgbClr val="111827"/>
          </a:solidFill>
          <a:ln w="12700">
            <a:solidFill>
              <a:srgbClr val="EC4899">
                <a:alpha val="50000"/>
              </a:srgbClr>
            </a:solidFill>
            <a:prstDash val="solid"/>
          </a:ln>
          <a:effectLst>
            <a:outerShdw sx="100000" sy="100000" kx="0" ky="0" algn="bl" rotWithShape="0" blurRad="177800" dist="50800" dir="2700000">
              <a:srgbClr val="EC4899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8056" y="344728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EC4899">
              <a:alpha val="20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" y="34472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14984" y="3447288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중립 질문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" y="397764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유도하지 않는 열린 질문으로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생각을 이끌어낸다.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82312" y="3319272"/>
            <a:ext cx="4251960" cy="1463040"/>
          </a:xfrm>
          <a:prstGeom prst="roundRect">
            <a:avLst>
              <a:gd name="adj" fmla="val 7500"/>
            </a:avLst>
          </a:prstGeom>
          <a:solidFill>
            <a:srgbClr val="111827"/>
          </a:solidFill>
          <a:ln w="12700">
            <a:solidFill>
              <a:srgbClr val="10B981">
                <a:alpha val="50000"/>
              </a:srgbClr>
            </a:solidFill>
            <a:prstDash val="solid"/>
          </a:ln>
          <a:effectLst>
            <a:outerShdw sx="100000" sy="100000" kx="0" ky="0" algn="bl" rotWithShape="0" blurRad="177800" dist="50800" dir="2700000">
              <a:srgbClr val="10B981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10328" y="344728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0328" y="34472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77256" y="3447288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없는 질문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46904" y="397764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스스로 답을 찾고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사고를 확장할 수 있게 한다.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0040" y="4663440"/>
            <a:ext cx="8503920" cy="347472"/>
          </a:xfrm>
          <a:prstGeom prst="roundRect">
            <a:avLst>
              <a:gd name="adj" fmla="val 21053"/>
            </a:avLst>
          </a:prstGeom>
          <a:solidFill>
            <a:srgbClr val="0F172A"/>
          </a:solidFill>
          <a:ln w="12700">
            <a:solidFill>
              <a:srgbClr val="94A3B8">
                <a:alpha val="28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66344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면접이란: 미래의 인재를 찾는 과정  ·  나의 성장과 성공을 이룰 수 있는 조직과 사람을 찾는 과정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A25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A25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A25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A25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A25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0" y="-1371600"/>
            <a:ext cx="4114800" cy="4114800"/>
          </a:xfrm>
          <a:prstGeom prst="ellipse">
            <a:avLst/>
          </a:prstGeom>
          <a:solidFill>
            <a:srgbClr val="00E5FF">
              <a:alpha val="8000"/>
            </a:srgbClr>
          </a:solidFill>
          <a:ln w="12700">
            <a:solidFill>
              <a:srgbClr val="00E5FF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1097280" y="2926080"/>
            <a:ext cx="3200400" cy="3200400"/>
          </a:xfrm>
          <a:prstGeom prst="ellipse">
            <a:avLst/>
          </a:prstGeom>
          <a:solidFill>
            <a:srgbClr val="A855F7">
              <a:alpha val="10000"/>
            </a:srgbClr>
          </a:solidFill>
          <a:ln w="12700">
            <a:solidFill>
              <a:srgbClr val="A855F7">
                <a:alpha val="1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팀장에게 주어진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48640" y="1005840"/>
            <a:ext cx="8230235" cy="960755"/>
          </a:xfrm>
          <a:prstGeom prst="rect">
            <a:avLst/>
          </a:prstGeom>
          <a:noFill/>
          <a:ln/>
        </p:spPr>
        <p:txBody>
          <a:bodyPr wrap="square" lIns="0" tIns="0" rIns="0" bIns="0" numCol="1" vert="horz" anchor="ctr">
            <a:noAutofit/>
          </a:bodyPr>
          <a:lstStyle/>
          <a:p>
            <a:pPr marL="0" indent="0" algn="l">
              <a:buFontTx/>
              <a:buNone/>
            </a:pPr>
            <a:r>
              <a:rPr lang="en-US" sz="5200" b="1">
                <a:solidFill>
                  <a:srgbClr val="FFFFFF"/>
                </a:solidFill>
                <a:latin typeface="Calibri" charset="0"/>
                <a:ea typeface="Calibri" charset="0"/>
                <a:cs typeface="Calibri" charset="0"/>
              </a:rPr>
              <a:t>10번의 기회</a:t>
            </a:r>
            <a:endParaRPr lang="ko-KR" altLang="en-US" sz="5200" b="1">
              <a:solidFill>
                <a:srgbClr val="FFFFFF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2011680"/>
            <a:ext cx="4114800" cy="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212975"/>
            <a:ext cx="8229600" cy="457200"/>
          </a:xfrm>
          <a:prstGeom prst="roundRect">
            <a:avLst>
              <a:gd name="adj" fmla="val 14000"/>
            </a:avLst>
          </a:prstGeom>
          <a:solidFill>
            <a:srgbClr val="111827"/>
          </a:solidFill>
          <a:ln w="1270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212975"/>
            <a:ext cx="594360" cy="457200"/>
          </a:xfrm>
          <a:prstGeom prst="roundRect">
            <a:avLst>
              <a:gd name="adj" fmla="val 14000"/>
            </a:avLst>
          </a:prstGeom>
          <a:solidFill>
            <a:srgbClr val="00E5FF">
              <a:alpha val="20000"/>
            </a:srgbClr>
          </a:solidFill>
          <a:ln w="12700">
            <a:solidFill>
              <a:srgbClr val="00E5FF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212975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3장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61745" y="2212975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저성과자 vs 저성과 상태 구분 → 맞춤 관리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2743200"/>
            <a:ext cx="8229600" cy="457200"/>
          </a:xfrm>
          <a:prstGeom prst="roundRect">
            <a:avLst>
              <a:gd name="adj" fmla="val 14000"/>
            </a:avLst>
          </a:prstGeom>
          <a:solidFill>
            <a:srgbClr val="111827"/>
          </a:solidFill>
          <a:ln w="12700">
            <a:solidFill>
              <a:srgbClr val="A855F7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2743200"/>
            <a:ext cx="594360" cy="457200"/>
          </a:xfrm>
          <a:prstGeom prst="roundRect">
            <a:avLst>
              <a:gd name="adj" fmla="val 14000"/>
            </a:avLst>
          </a:prstGeom>
          <a:solidFill>
            <a:srgbClr val="A855F7">
              <a:alpha val="20000"/>
            </a:srgbClr>
          </a:solidFill>
          <a:ln w="12700">
            <a:solidFill>
              <a:srgbClr val="A855F7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74320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4장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61745" y="274320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 중심 · 선택 주도권을 팀원에게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273425"/>
            <a:ext cx="8229600" cy="457200"/>
          </a:xfrm>
          <a:prstGeom prst="roundRect">
            <a:avLst>
              <a:gd name="adj" fmla="val 14000"/>
            </a:avLst>
          </a:prstGeom>
          <a:solidFill>
            <a:srgbClr val="111827"/>
          </a:solidFill>
          <a:ln w="12700">
            <a:solidFill>
              <a:srgbClr val="EC4899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273425"/>
            <a:ext cx="594360" cy="457200"/>
          </a:xfrm>
          <a:prstGeom prst="roundRect">
            <a:avLst>
              <a:gd name="adj" fmla="val 14000"/>
            </a:avLst>
          </a:prstGeom>
          <a:solidFill>
            <a:srgbClr val="EC4899">
              <a:alpha val="20000"/>
            </a:srgbClr>
          </a:solidFill>
          <a:ln w="12700">
            <a:solidFill>
              <a:srgbClr val="EC4899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273425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5장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261745" y="3273425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구조화 질문 + 자율 의사결정 지원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3803650"/>
            <a:ext cx="8229600" cy="457200"/>
          </a:xfrm>
          <a:prstGeom prst="roundRect">
            <a:avLst>
              <a:gd name="adj" fmla="val 14000"/>
            </a:avLst>
          </a:prstGeom>
          <a:solidFill>
            <a:srgbClr val="111827"/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3803650"/>
            <a:ext cx="594360" cy="457200"/>
          </a:xfrm>
          <a:prstGeom prst="roundRect">
            <a:avLst>
              <a:gd name="adj" fmla="val 14000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80365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6장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261745" y="380365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이전과 다른 방식으로 도전하게 하는 문화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4334510"/>
            <a:ext cx="8229600" cy="457200"/>
          </a:xfrm>
          <a:prstGeom prst="roundRect">
            <a:avLst>
              <a:gd name="adj" fmla="val 14000"/>
            </a:avLst>
          </a:prstGeom>
          <a:solidFill>
            <a:srgbClr val="111827"/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4334510"/>
            <a:ext cx="594360" cy="457200"/>
          </a:xfrm>
          <a:prstGeom prst="roundRect">
            <a:avLst>
              <a:gd name="adj" fmla="val 14000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33451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8장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261745" y="433451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겸손한 질문법과 일관된 면접 기준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Company>PptxGenJS</Company>
  <DocSecurity>0</DocSecurity>
  <HyperlinksChanged>false</HyperlinksChanged>
  <Lines>0</Lines>
  <LinksUpToDate>false</LinksUpToDate>
  <Pages>8</Pages>
  <Paragraphs>0</Paragraphs>
  <Words>0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:creator>PptxGenJS</dc:creator>
  <cp:lastModifiedBy>KIL KIHO</cp:lastModifiedBy>
  <dc:title>팀장에게 주어진 101번의 기회</dc:title>
  <dc:subject>PptxGenJS Presentation</dc:subject>
  <cp:version>10.105.307.56236</cp:version>
  <dcterms:modified xsi:type="dcterms:W3CDTF">2026-06-21T08:33:12Z</dcterms:modified>
</cp:coreProperties>
</file>